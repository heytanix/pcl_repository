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71" r:id="rId6"/>
    <p:sldId id="284" r:id="rId7"/>
    <p:sldId id="260" r:id="rId8"/>
    <p:sldId id="282" r:id="rId9"/>
    <p:sldId id="288" r:id="rId10"/>
    <p:sldId id="287" r:id="rId11"/>
    <p:sldId id="280" r:id="rId12"/>
    <p:sldId id="281" r:id="rId13"/>
    <p:sldId id="274" r:id="rId14"/>
    <p:sldId id="269" r:id="rId15"/>
    <p:sldId id="283" r:id="rId16"/>
    <p:sldId id="286" r:id="rId17"/>
    <p:sldId id="277" r:id="rId18"/>
    <p:sldId id="285" r:id="rId19"/>
    <p:sldId id="266" r:id="rId20"/>
    <p:sldId id="267" r:id="rId2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6EDE3D-6C75-4357-A6FB-BB42B989EEB3}" v="10" dt="2026-04-08T13:08:54.7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046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294" y="3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0c13118fa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0c13118fa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g10c13118faf_0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GB"/>
              <a:t>3</a:t>
            </a:fld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13</a:t>
            </a:fld>
            <a:endParaRPr lang="en-GB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329384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28650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3028950" y="63563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6457950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28650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3028950" y="63563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6457950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" name="Google Shape;27;p4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28650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3028950" y="63563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6457950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623888" y="1709745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23888" y="4589470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628650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3028950" y="63563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6457950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628650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3028950" y="63563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6457950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629841" y="365129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3"/>
          </p:nvPr>
        </p:nvSpPr>
        <p:spPr>
          <a:xfrm>
            <a:off x="4629152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4"/>
          </p:nvPr>
        </p:nvSpPr>
        <p:spPr>
          <a:xfrm>
            <a:off x="4629152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628650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3028950" y="63563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6457950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628650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3028950" y="63563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6457950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3887391" y="987432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628650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028950" y="63563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457950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3887391" y="987432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628650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028950" y="63563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457950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628650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028950" y="63563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457950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4623594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623095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628650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028950" y="63563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457950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28650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028950" y="63563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457950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ieeexplore.ieee.org/abstract/document/10459026" TargetMode="External"/><Relationship Id="rId3" Type="http://schemas.openxmlformats.org/officeDocument/2006/relationships/hyperlink" Target="http://www.slideshare.net/Rajnishkumar468/fabrication-of-drone.%20Accessed%2031%20May%202024" TargetMode="External"/><Relationship Id="rId7" Type="http://schemas.openxmlformats.org/officeDocument/2006/relationships/hyperlink" Target="https://doi.org/10.1007/s11554-021-01171-2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16/j.ijcce.2021.11.005" TargetMode="External"/><Relationship Id="rId5" Type="http://schemas.openxmlformats.org/officeDocument/2006/relationships/hyperlink" Target="https://doi.org/10.3390/drones3040082" TargetMode="External"/><Relationship Id="rId10" Type="http://schemas.openxmlformats.org/officeDocument/2006/relationships/hyperlink" Target="https://doi.org/10.1007/s11831-021-09681-9" TargetMode="External"/><Relationship Id="rId4" Type="http://schemas.openxmlformats.org/officeDocument/2006/relationships/hyperlink" Target="https://doi.org/10.3390/drones5030087" TargetMode="External"/><Relationship Id="rId9" Type="http://schemas.openxmlformats.org/officeDocument/2006/relationships/hyperlink" Target="https://ieeexplore.ieee.org/abstract/document/9006834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/>
        </p:nvSpPr>
        <p:spPr>
          <a:xfrm>
            <a:off x="685800" y="2423928"/>
            <a:ext cx="7772400" cy="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n-US" sz="1600" b="1"/>
              <a:t>Real-Time Human Violence Detection Using ResNet3D-18 with Confidence-Gated Temporal Voting Mechanism</a:t>
            </a:r>
            <a:endParaRPr lang="en-IN" sz="1600" b="1"/>
          </a:p>
        </p:txBody>
      </p:sp>
      <p:sp>
        <p:nvSpPr>
          <p:cNvPr id="92" name="Google Shape;92;p13"/>
          <p:cNvSpPr/>
          <p:nvPr/>
        </p:nvSpPr>
        <p:spPr>
          <a:xfrm>
            <a:off x="265722" y="3628791"/>
            <a:ext cx="7072923" cy="240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Presented by: </a:t>
            </a:r>
            <a:endParaRPr sz="16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TEJAS R U                         (23BTRCL165)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SUJEET R K                       (23BTRCL081)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TANISHA V                       (23BTRCL086)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THANISH K C                   (23BTRCL089)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S UDAY GOWDA             (23BTRSN065)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altLang="en-GB" sz="16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GB" sz="16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Computer Science Of Engineering Artificial Intelligence And Machine Learning</a:t>
            </a:r>
          </a:p>
        </p:txBody>
      </p:sp>
      <p:sp>
        <p:nvSpPr>
          <p:cNvPr id="93" name="Google Shape;93;p13"/>
          <p:cNvSpPr txBox="1"/>
          <p:nvPr/>
        </p:nvSpPr>
        <p:spPr>
          <a:xfrm>
            <a:off x="4306279" y="3671920"/>
            <a:ext cx="4689232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en-US" sz="1800" b="1" i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Under the Guidance of: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en-US" altLang="en-GB"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Dr. Senthil </a:t>
            </a:r>
            <a:r>
              <a:rPr lang="en-US" altLang="en-GB" sz="1800" b="0" i="0" u="none" strike="noStrike" cap="none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kumar</a:t>
            </a:r>
            <a:endParaRPr lang="en-US" altLang="en-GB" sz="18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en-US" altLang="en-GB"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Associate Professor , CSE - AIML, </a:t>
            </a:r>
          </a:p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en-US" altLang="en-GB" sz="180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FET, JAIN(Deemed–to-be) UNIVERSITY</a:t>
            </a:r>
          </a:p>
        </p:txBody>
      </p:sp>
      <p:sp>
        <p:nvSpPr>
          <p:cNvPr id="94" name="Google Shape;94;p13"/>
          <p:cNvSpPr txBox="1"/>
          <p:nvPr/>
        </p:nvSpPr>
        <p:spPr>
          <a:xfrm>
            <a:off x="1781987" y="1624358"/>
            <a:ext cx="634913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/>
              <a:t>PROJECT-CENTRIC LEARNING (PCL)</a:t>
            </a:r>
            <a:endParaRPr lang="en-US" sz="2400"/>
          </a:p>
        </p:txBody>
      </p:sp>
      <p:sp>
        <p:nvSpPr>
          <p:cNvPr id="95" name="Google Shape;95;p13"/>
          <p:cNvSpPr txBox="1"/>
          <p:nvPr/>
        </p:nvSpPr>
        <p:spPr>
          <a:xfrm>
            <a:off x="797249" y="3094250"/>
            <a:ext cx="7772400" cy="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 panose="02020603050405020304"/>
              <a:buNone/>
            </a:pPr>
            <a:r>
              <a:rPr lang="en-GB" sz="3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Review Pr</a:t>
            </a:r>
            <a:r>
              <a:rPr lang="en-GB" sz="3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esentation - 1</a:t>
            </a:r>
            <a:endParaRPr/>
          </a:p>
        </p:txBody>
      </p:sp>
      <p:pic>
        <p:nvPicPr>
          <p:cNvPr id="10" name="image1.png" descr="C:\Users\Staff\Desktop\Dr. Ahmadi Begum\SET-JU-Logo-for-NBA-and-ISO-Process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190732" y="396337"/>
            <a:ext cx="3531649" cy="8900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 panose="02020603050405020304"/>
              <a:buNone/>
            </a:pPr>
            <a:r>
              <a:rPr lang="en-GB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Contents</a:t>
            </a: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1" name="Google Shape;101;p14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228600" lvl="0" indent="-16192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Abstract </a:t>
            </a:r>
          </a:p>
          <a:p>
            <a:pPr marL="228600" lvl="0" indent="-16192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Introduction</a:t>
            </a:r>
          </a:p>
          <a:p>
            <a:pPr marL="228600" lvl="0" indent="-16192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Problem Statement</a:t>
            </a:r>
            <a:endParaRPr/>
          </a:p>
          <a:p>
            <a:pPr marL="228600" lvl="0" indent="-16192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Aim and Objectives</a:t>
            </a:r>
          </a:p>
          <a:p>
            <a:pPr marL="228600" lvl="0" indent="-161925" algn="just">
              <a:lnSpc>
                <a:spcPct val="150000"/>
              </a:lnSpc>
              <a:spcBef>
                <a:spcPts val="0"/>
              </a:spcBef>
              <a:buSzPct val="100000"/>
            </a:pPr>
            <a:r>
              <a:rPr lang="en-US"/>
              <a:t>Comparative Analysis with Existing Models</a:t>
            </a: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28600" lvl="0" indent="-16192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Literature Survey</a:t>
            </a:r>
          </a:p>
          <a:p>
            <a:pPr marL="228600" lvl="0" indent="-16192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Methodology</a:t>
            </a:r>
          </a:p>
          <a:p>
            <a:pPr marL="228600" lvl="0" indent="-16192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Results &amp; Advantages</a:t>
            </a:r>
            <a:endParaRPr/>
          </a:p>
          <a:p>
            <a:pPr marL="228600" lvl="0" indent="-16192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Conclusion</a:t>
            </a:r>
          </a:p>
          <a:p>
            <a:pPr marL="228600" lvl="0" indent="-16192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Future scope</a:t>
            </a:r>
          </a:p>
          <a:p>
            <a:pPr marL="228600" lvl="0" indent="-16192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References</a:t>
            </a: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>
            <a:spLocks noGrp="1"/>
          </p:cNvSpPr>
          <p:nvPr>
            <p:ph type="title"/>
          </p:nvPr>
        </p:nvSpPr>
        <p:spPr>
          <a:xfrm>
            <a:off x="2459481" y="0"/>
            <a:ext cx="3753750" cy="836246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Abstract</a:t>
            </a:r>
            <a:endParaRPr/>
          </a:p>
        </p:txBody>
      </p:sp>
      <p:sp>
        <p:nvSpPr>
          <p:cNvPr id="108" name="Google Shape;108;p15"/>
          <p:cNvSpPr txBox="1">
            <a:spLocks noGrp="1"/>
          </p:cNvSpPr>
          <p:nvPr>
            <p:ph type="body" idx="1"/>
          </p:nvPr>
        </p:nvSpPr>
        <p:spPr>
          <a:xfrm>
            <a:off x="1008663" y="5271561"/>
            <a:ext cx="8326167" cy="36366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90488" y="721445"/>
            <a:ext cx="8963024" cy="41972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sz="1800"/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800"/>
              <a:t>The increasing use of surveillance systems demands automated real-time violence detection. Manual monitoring of video feeds is inefficient and prone to human error.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800"/>
              <a:t>This work proposes a deep learning framework based on </a:t>
            </a:r>
            <a:r>
              <a:rPr lang="en-US" sz="1800" b="1"/>
              <a:t>ResNet3D-18</a:t>
            </a:r>
            <a:r>
              <a:rPr lang="en-US" sz="1800"/>
              <a:t> for </a:t>
            </a:r>
            <a:r>
              <a:rPr lang="en-US" sz="1800" err="1"/>
              <a:t>spatio</a:t>
            </a:r>
            <a:r>
              <a:rPr lang="en-US" sz="1800"/>
              <a:t>--temporal video analysis using 16-frame clips for accurate violence recognition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800"/>
              <a:t>A </a:t>
            </a:r>
            <a:r>
              <a:rPr lang="en-US" sz="1800" b="1"/>
              <a:t>Confidence-Gated Temporal Voting Mechanism</a:t>
            </a:r>
            <a:r>
              <a:rPr lang="en-US" sz="1800"/>
              <a:t> triggers a VIOLENT alert only when prediction confidence exceeds 85% across 5 consecutive frames 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800"/>
              <a:t>The proposed system achieves </a:t>
            </a:r>
            <a:r>
              <a:rPr lang="en-US" sz="1800" b="1"/>
              <a:t>97.95% accuracy</a:t>
            </a:r>
            <a:r>
              <a:rPr lang="en-US" sz="1800"/>
              <a:t> and is deployed through a web-based interface supporting both CPU and GPU inference, ensuring practical real-time implementation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6278" y="4803881"/>
            <a:ext cx="2912779" cy="20541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>
            <a:spLocks noGrp="1"/>
          </p:cNvSpPr>
          <p:nvPr>
            <p:ph type="title"/>
          </p:nvPr>
        </p:nvSpPr>
        <p:spPr>
          <a:xfrm>
            <a:off x="1436115" y="26480"/>
            <a:ext cx="4830885" cy="819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 panose="02020603050405020304"/>
              <a:buNone/>
            </a:pPr>
            <a:r>
              <a:rPr lang="en-GB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Introduction</a:t>
            </a: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4" name="Google Shape;114;p16"/>
          <p:cNvSpPr txBox="1">
            <a:spLocks noGrp="1"/>
          </p:cNvSpPr>
          <p:nvPr>
            <p:ph type="body" idx="1"/>
          </p:nvPr>
        </p:nvSpPr>
        <p:spPr>
          <a:xfrm>
            <a:off x="248786" y="507311"/>
            <a:ext cx="9824128" cy="557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indent="-285750" algn="just">
              <a:lnSpc>
                <a:spcPct val="100000"/>
              </a:lnSpc>
              <a:buSzPts val="2800"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63550" indent="-285750" algn="just">
              <a:lnSpc>
                <a:spcPct val="100000"/>
              </a:lnSpc>
              <a:buSzPts val="2800"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IN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IN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IN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0931" y="4769695"/>
            <a:ext cx="5395634" cy="1796778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68169D87-EFF3-2FD2-286D-0EA6E0E39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816DADA-129D-595C-2A27-9F9DB5486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184667"/>
            <a:ext cx="4132385" cy="340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5821E1A-3626-29A2-B6B7-A212F4DEB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6115" y="114732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EB871B78-0A88-C71A-4113-454CE665803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73429" y="1123374"/>
            <a:ext cx="888587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Rapid expansion of surveillance infrastructure has increased daily video data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generation in public and private spaces.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CCTV systems are widely used in transportation hubs, educational institutions,  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shopping centers, and residential areas for public safety.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Continuous manual monitoring is labor-intensive, inefficient, and prone to human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error.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Critical violent incidents may go unnoticed due to operator fatigue or delayed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response.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2847706B-2186-2FC0-EC21-9BE1075DB12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67460" y="3292367"/>
            <a:ext cx="848729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Advances in deep learning have improved action recognition and anomaly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detection in video analysis.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Traditional 2D image-based models focus only on spatial features and fail to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capture temporal motion patterns.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8596" y="2331666"/>
            <a:ext cx="6666807" cy="430708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CC9C0E4-AB9D-5005-14C3-7EA20D2E9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841" y="314499"/>
            <a:ext cx="897232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Violence detection is inherently a </a:t>
            </a:r>
            <a:r>
              <a:rPr kumimoji="0" lang="en-US" altLang="en-US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spatio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-temporal problem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requiring simultaneous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modeling of appearance and motion.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3D Convolutional Neural Networks (e.g., ResNet3D-18) process consecutive frames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as volumetric data, enabling effective 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spatio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-temporal feature extraction.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Existing systems often suffer from high false positives and unstable real-time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056DD-C4AF-6CFA-610B-7EE6B6FC7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Statement: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04B9F9-55E2-4E3F-5478-80F1BD11FC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IN" sz="2000"/>
              <a:t>Scale of Surveillance: </a:t>
            </a:r>
            <a:r>
              <a:rPr lang="en-US" sz="2000"/>
              <a:t>Billions of CCTV feeds → impossible for humans to monitor continuously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Human operators experience a significant decline in attention during prolonged monitoring, resulting in missed detection of critical events such as violent activities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Existing automated violence detection systems suffer from high false positive rates, often misclassifying non-violent actions (e.g., sports or playful interactions) as violence.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Most current approaches perform predictions on individual frames or short clips without incorporating temporal consistency, leading to unstable and unreliable outputs.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There is a need for a system that is accurate, stable, and computationally efficient, capable of real-time deployment on standard hardware.</a:t>
            </a:r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1021495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7180263" cy="869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 panose="02020603050405020304"/>
              <a:buNone/>
            </a:pPr>
            <a:r>
              <a:rPr lang="en-GB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Aim and Objectives</a:t>
            </a: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84731" y="593002"/>
            <a:ext cx="8553579" cy="7294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800"/>
              <a:t>To design and implement a real-time human violence detection system using  (ResNet3D-18) with improved detection stability for surveillance applications.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/>
              <a:t>1.Spatio-Temporal Feature Extraction: </a:t>
            </a:r>
            <a:r>
              <a:rPr lang="en-US" sz="1800"/>
              <a:t>Design a deep learning framework using ResNet3D-18 to capture both spatial and motion-based features from video sequences.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/>
              <a:t>2. Video Clip Processing: </a:t>
            </a:r>
            <a:r>
              <a:rPr lang="en-US" sz="1800"/>
              <a:t>Process short clips of 16 consecutive frames to effectively model temporal dynamics.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/>
              <a:t>3. Detection Stability Enhancement: </a:t>
            </a:r>
            <a:r>
              <a:rPr lang="en-US" sz="1800"/>
              <a:t>Implement a confidence-gated temporal voting mechanism to reduce false-positive alerts.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/>
              <a:t>4. Sustained Alert Mechanism: </a:t>
            </a:r>
            <a:r>
              <a:rPr lang="en-US" sz="1800"/>
              <a:t>Trigger violence alerts only when prediction confidence exceeds 0.85 across five consecutive evaluations.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/>
              <a:t>5. Performance Evaluation: </a:t>
            </a:r>
            <a:r>
              <a:rPr lang="en-US" sz="1800"/>
              <a:t>Assess system performance using standard classification metrics such as accuracy, precision, recall, and F1-score.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/>
              <a:t>6. Real-Time Deployment: </a:t>
            </a:r>
            <a:r>
              <a:rPr lang="en-US" sz="1800"/>
              <a:t>Enable practical implementation with support for both CPU and GPU-based inference.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54314-ECA3-AB15-0F20-1EEFABC7D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1717"/>
            <a:ext cx="7886700" cy="987421"/>
          </a:xfrm>
        </p:spPr>
        <p:txBody>
          <a:bodyPr>
            <a:normAutofit/>
          </a:bodyPr>
          <a:lstStyle/>
          <a:p>
            <a:r>
              <a:rPr lang="en-IN" sz="4000"/>
              <a:t>ResNet3D-18 Architecture: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0DBC990-F0B2-528C-0E04-A632C1A32E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44500" y="973949"/>
            <a:ext cx="1037267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ResNet3D-18 is a Convolutional Neural Network for video understanding.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Extends 2D 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ResNet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replacing 2D convolutions with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3D convolutions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800" err="1">
                <a:latin typeface="Arial" panose="020B0604020202020204" pitchFamily="34" charset="0"/>
                <a:cs typeface="Arial" panose="020B0604020202020204" pitchFamily="34" charset="0"/>
              </a:rPr>
              <a:t>ResNet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solves Vanishing gradients &amp; Degradation problems by using: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     Residual Connections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Processes video as volumetric input: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 × 16 × 112 × 112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(RGB channels × frames × height × width)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Extracts both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spatial (appearance)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temporal (motion)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features.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3D CNN:</a:t>
            </a:r>
            <a:b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Processes video.</a:t>
            </a:r>
            <a:b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Kernel shape: (time, height, width)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3" descr="Original ResNet-18 Architecture | Download Scientific Diagram">
            <a:extLst>
              <a:ext uri="{FF2B5EF4-FFF2-40B4-BE49-F238E27FC236}">
                <a16:creationId xmlns:a16="http://schemas.microsoft.com/office/drawing/2014/main" id="{A4900B64-EC4B-A5E8-A266-BCDBEB8A4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4051904"/>
            <a:ext cx="7588593" cy="251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6263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6F08E-3C08-6C9F-C6AC-53C56DFE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Existing Models: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FF0D96-6F22-E3DF-B4B3-0BFE00657A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690692"/>
            <a:ext cx="843280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YOLO-based Violence Detection Systems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Widely used in modern surveillance for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detection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due to speed and efficiency. These systems analyze live CCTV feeds and trigger alerts instantly.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CNN + LSTM-Based Systems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 spatial (CNN) and temporal (LSTM) features to detect violent activities in video sequences. Common in research and IoT-based surveillance setups.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3D CNN Models (C3D, I3D, SlowFast)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deep learning models that process video clips to capture motion and appearance, achieving high accuracy but requiring heavy computation.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Vi-SAFE (YOLO + Temporal Networks)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Hybrid system combining object detection (YOLO) with temporal analysis for improved accuracy (~88%), but requires GPU-based infrastructure </a:t>
            </a:r>
          </a:p>
        </p:txBody>
      </p:sp>
    </p:spTree>
    <p:extLst>
      <p:ext uri="{BB962C8B-B14F-4D97-AF65-F5344CB8AC3E}">
        <p14:creationId xmlns:p14="http://schemas.microsoft.com/office/powerpoint/2010/main" val="3002467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B82C8CC-4C4C-A426-509A-36EB57068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697" y="365126"/>
            <a:ext cx="9091749" cy="1045664"/>
          </a:xfrm>
        </p:spPr>
        <p:txBody>
          <a:bodyPr>
            <a:normAutofit fontScale="90000"/>
          </a:bodyPr>
          <a:lstStyle/>
          <a:p>
            <a:r>
              <a:rPr lang="en-US" sz="4000"/>
              <a:t>Comparative Analysis with Existing Models:</a:t>
            </a:r>
            <a:endParaRPr lang="en-IN" sz="400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66C759D-527C-6FEB-D7F0-C9A030A4D8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418826"/>
              </p:ext>
            </p:extLst>
          </p:nvPr>
        </p:nvGraphicFramePr>
        <p:xfrm>
          <a:off x="352697" y="1410789"/>
          <a:ext cx="8438604" cy="4859380"/>
        </p:xfrm>
        <a:graphic>
          <a:graphicData uri="http://schemas.openxmlformats.org/drawingml/2006/table">
            <a:tbl>
              <a:tblPr/>
              <a:tblGrid>
                <a:gridCol w="2812868">
                  <a:extLst>
                    <a:ext uri="{9D8B030D-6E8A-4147-A177-3AD203B41FA5}">
                      <a16:colId xmlns:a16="http://schemas.microsoft.com/office/drawing/2014/main" val="3656491473"/>
                    </a:ext>
                  </a:extLst>
                </a:gridCol>
                <a:gridCol w="2812868">
                  <a:extLst>
                    <a:ext uri="{9D8B030D-6E8A-4147-A177-3AD203B41FA5}">
                      <a16:colId xmlns:a16="http://schemas.microsoft.com/office/drawing/2014/main" val="1486060828"/>
                    </a:ext>
                  </a:extLst>
                </a:gridCol>
                <a:gridCol w="2812868">
                  <a:extLst>
                    <a:ext uri="{9D8B030D-6E8A-4147-A177-3AD203B41FA5}">
                      <a16:colId xmlns:a16="http://schemas.microsoft.com/office/drawing/2014/main" val="390911973"/>
                    </a:ext>
                  </a:extLst>
                </a:gridCol>
              </a:tblGrid>
              <a:tr h="4083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Model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Main Problem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Our Improvement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3339117"/>
                  </a:ext>
                </a:extLst>
              </a:tr>
              <a:tr h="6941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C3D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Too heavy → cannot run on normal computers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Runs on </a:t>
                      </a:r>
                      <a:r>
                        <a:rPr lang="en-US" b="1"/>
                        <a:t>CPU with fewer parameters (~33M)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6333146"/>
                  </a:ext>
                </a:extLst>
              </a:tr>
              <a:tr h="6941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SlowFast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Needs multiple GPUs → expensive and complex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Works on </a:t>
                      </a:r>
                      <a:r>
                        <a:rPr lang="en-US" b="1"/>
                        <a:t>CPU or single GPU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281017"/>
                  </a:ext>
                </a:extLst>
              </a:tr>
              <a:tr h="6941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I3D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 accuracy but slow and resource-heavy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Fast + accurate</a:t>
                      </a:r>
                      <a:r>
                        <a:rPr lang="en-US"/>
                        <a:t>, suitable for real-time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6029943"/>
                  </a:ext>
                </a:extLst>
              </a:tr>
              <a:tr h="980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YOLO-based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Detects frame-by-frame → misses motion, causes false alerts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Uses </a:t>
                      </a:r>
                      <a:r>
                        <a:rPr lang="en-IN" b="1"/>
                        <a:t>16-frame video input</a:t>
                      </a:r>
                      <a:r>
                        <a:rPr lang="en-IN"/>
                        <a:t> → understands motion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3439051"/>
                  </a:ext>
                </a:extLst>
              </a:tr>
              <a:tr h="6941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CNN + LSTM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Slow due to two-step processing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Single-step model</a:t>
                      </a:r>
                      <a:r>
                        <a:rPr lang="en-IN"/>
                        <a:t> → faster prediction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8880793"/>
                  </a:ext>
                </a:extLst>
              </a:tr>
              <a:tr h="6941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Vi-SAFE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Requires GPU, no false-alert control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Runs on CPU + reduces false alerts using voting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77743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1938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>
            <a:spLocks noGrp="1"/>
          </p:cNvSpPr>
          <p:nvPr>
            <p:ph type="title"/>
          </p:nvPr>
        </p:nvSpPr>
        <p:spPr>
          <a:xfrm>
            <a:off x="1223645" y="0"/>
            <a:ext cx="7178675" cy="1344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None/>
            </a:pPr>
            <a:r>
              <a:rPr lang="en-GB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Literature Survey</a:t>
            </a:r>
            <a:br>
              <a:rPr lang="en-GB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" name="Google Shape;125;p18"/>
          <p:cNvSpPr txBox="1"/>
          <p:nvPr/>
        </p:nvSpPr>
        <p:spPr>
          <a:xfrm>
            <a:off x="1123315" y="864870"/>
            <a:ext cx="7178675" cy="5737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None/>
              <a:defRPr/>
            </a:pPr>
            <a:endParaRPr kumimoji="0" lang="en-GB" sz="6400" b="0" i="0" u="none" strike="noStrike" kern="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0" y="697865"/>
          <a:ext cx="9144000" cy="615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2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0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3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23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07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758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676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 altLang="en-US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Journal/Conference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Key 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Key Findings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37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A Survey of UAV Applications in Civilian Missions: Challenges and Future Trends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/>
                        <a:t>E. </a:t>
                      </a:r>
                      <a:r>
                        <a:rPr lang="en-IN" err="1"/>
                        <a:t>Yanmaz</a:t>
                      </a:r>
                      <a:r>
                        <a:rPr lang="en-IN"/>
                        <a:t>, I. </a:t>
                      </a:r>
                      <a:r>
                        <a:rPr lang="en-IN" err="1"/>
                        <a:t>Güvenç</a:t>
                      </a:r>
                      <a:r>
                        <a:rPr lang="en-IN"/>
                        <a:t>, Y. </a:t>
                      </a:r>
                      <a:r>
                        <a:rPr lang="en-IN" err="1"/>
                        <a:t>Mulgaonkar</a:t>
                      </a:r>
                      <a:r>
                        <a:rPr lang="en-IN"/>
                        <a:t>, R. </a:t>
                      </a:r>
                      <a:r>
                        <a:rPr lang="en-IN" err="1"/>
                        <a:t>Ohare</a:t>
                      </a:r>
                      <a:r>
                        <a:rPr lang="en-IN"/>
                        <a:t>, D. Schmale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Ad Hoc Networks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/>
                        <a:t>2018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Civilian applications of drones, including surveillance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Discusses challenges and future trends in UAV applications, emphasizing their potential in surveillance missions.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64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Deep Learning for Real-Time Human Action Recognition with UAVs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/>
                        <a:t>P. Molchanov, S. Gupta, K. Kim, K. </a:t>
                      </a:r>
                      <a:r>
                        <a:rPr lang="en-IN" err="1"/>
                        <a:t>Pulli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Proceedings of the IEEE Conference on Computer Vision and Pattern Recognition Workshops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Application of deep learning for UAV-based action recognition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Highlights the implementation and accuracy of deep learning models for real-time human action recognition using UAVs.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63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Multi-Sensor Fusion for Robust UAV-Based Human Action Recognition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M. H. ElSayed, A. M. Ahmed, H. A. </a:t>
                      </a:r>
                      <a:r>
                        <a:rPr lang="en-US" err="1"/>
                        <a:t>AboElFotoh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IEEE Sensors Journal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Integration of multiple sensors for UAV-based action recognition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Demonstrates the benefits of sensor fusion techniques in enhancing the robustness of UAV-based human action recognition.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>
            <a:spLocks noGrp="1"/>
          </p:cNvSpPr>
          <p:nvPr>
            <p:ph type="title"/>
          </p:nvPr>
        </p:nvSpPr>
        <p:spPr>
          <a:xfrm>
            <a:off x="1223645" y="0"/>
            <a:ext cx="7178675" cy="1344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None/>
            </a:pPr>
            <a:r>
              <a:rPr lang="en-GB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Literature Survey</a:t>
            </a:r>
            <a:br>
              <a:rPr lang="en-GB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" name="Google Shape;125;p18"/>
          <p:cNvSpPr txBox="1"/>
          <p:nvPr/>
        </p:nvSpPr>
        <p:spPr>
          <a:xfrm>
            <a:off x="1123315" y="864870"/>
            <a:ext cx="7178675" cy="5737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None/>
              <a:defRPr/>
            </a:pPr>
            <a:endParaRPr kumimoji="0" lang="en-GB" sz="6400" b="0" i="0" u="none" strike="noStrike" kern="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0" y="697865"/>
          <a:ext cx="9144000" cy="615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2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0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3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23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07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758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676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 altLang="en-US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Journal/Conference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Key 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Key Findings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37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Real-Time Action Recognition in Surveillance Video Using Deep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/>
                        <a:t>K. Simonyan, A. Zisserman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 err="1"/>
                        <a:t>arXiv</a:t>
                      </a:r>
                      <a:r>
                        <a:rPr lang="en-IN"/>
                        <a:t> preprint arXiv:1409.1556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Deep learning framework for action recognition in surveillance videos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Proposes a deep learning framework for real-time action recognition, applicable to UAV-based surveillance systems.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64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Unmanned Aerial Vehicles for Long-Term Public Safety Monitoring: A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s-ES"/>
                        <a:t>G. F. </a:t>
                      </a:r>
                      <a:r>
                        <a:rPr lang="es-ES" err="1"/>
                        <a:t>Nunez</a:t>
                      </a:r>
                      <a:r>
                        <a:rPr lang="es-ES"/>
                        <a:t>, A. J. </a:t>
                      </a:r>
                      <a:r>
                        <a:rPr lang="es-ES" err="1"/>
                        <a:t>Perez</a:t>
                      </a:r>
                      <a:r>
                        <a:rPr lang="es-ES"/>
                        <a:t>, J. B. </a:t>
                      </a:r>
                      <a:r>
                        <a:rPr lang="es-ES" err="1"/>
                        <a:t>Nunez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/>
                        <a:t>IEEE Access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Use of UAVs for public safety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Reviews technological advancements and operational challenges in using UAVs for long-term public safety monitoring.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63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 Comprehensive Survey on Multi-Sensor Fusion for Video Surveillance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F. </a:t>
                      </a:r>
                      <a:r>
                        <a:rPr lang="en-IN" err="1"/>
                        <a:t>Castanedo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Sensors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Multi-</a:t>
                      </a:r>
                      <a:r>
                        <a:rPr lang="fr-FR" err="1"/>
                        <a:t>sensor</a:t>
                      </a:r>
                      <a:r>
                        <a:rPr lang="fr-FR"/>
                        <a:t> fusion techniques for </a:t>
                      </a:r>
                      <a:r>
                        <a:rPr lang="fr-FR" err="1"/>
                        <a:t>video</a:t>
                      </a:r>
                      <a:r>
                        <a:rPr lang="fr-FR"/>
                        <a:t> surveillance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Provides an overview of multi-sensor fusion techniques, relevant for enhancing the accuracy of UAV-based human action recognition.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17799" y="88900"/>
            <a:ext cx="4572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br>
              <a:rPr lang="en-IN" sz="4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4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3201" y="920621"/>
            <a:ext cx="8940799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7640"/>
            <a:r>
              <a:rPr lang="en-US" sz="1800"/>
              <a:t>The proposed framework is designed to perform real-time violence detection from live video streams. The system processes short video clips extracted from continuous input, enabling </a:t>
            </a:r>
            <a:r>
              <a:rPr lang="en-US" sz="1800" err="1"/>
              <a:t>spatio</a:t>
            </a:r>
            <a:r>
              <a:rPr lang="en-US" sz="1800"/>
              <a:t>-temporal feature learning for robust classification</a:t>
            </a:r>
            <a:r>
              <a:rPr lang="en-US"/>
              <a:t>. </a:t>
            </a:r>
          </a:p>
          <a:p>
            <a:pPr marL="167640" algn="just"/>
            <a:endParaRPr lang="en-US" sz="1600"/>
          </a:p>
          <a:p>
            <a:r>
              <a:rPr lang="en-US" sz="1800" b="1"/>
              <a:t>1. Video Stream Acquisition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Capture live webcam or pre-recorded surveillance video streams.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Enable continuous real-time frame extraction for processing.</a:t>
            </a:r>
          </a:p>
          <a:p>
            <a:endParaRPr lang="en-US" sz="1800"/>
          </a:p>
          <a:p>
            <a:r>
              <a:rPr lang="en-IN" sz="1800" b="1"/>
              <a:t>2. Frame Buffering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/>
              <a:t>Use a sliding window to collect </a:t>
            </a:r>
            <a:r>
              <a:rPr lang="en-IN" sz="1800" b="1"/>
              <a:t>16 consecutive frames</a:t>
            </a:r>
            <a:r>
              <a:rPr lang="en-IN" sz="1800"/>
              <a:t> per clip.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Each clip is represented as:  </a:t>
            </a:r>
            <a:r>
              <a:rPr lang="pl-PL" sz="1800"/>
              <a:t>X ∈ RC×T×H×W </a:t>
            </a:r>
            <a:endParaRPr lang="en-IN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/>
              <a:t>𝐶=3(RGB channels) </a:t>
            </a:r>
          </a:p>
          <a:p>
            <a:r>
              <a:rPr lang="en-IN" sz="1800"/>
              <a:t>     𝑇=16(temporal dimension) </a:t>
            </a:r>
          </a:p>
          <a:p>
            <a:r>
              <a:rPr lang="en-IN" sz="1800"/>
              <a:t>     𝐻=112, 𝑊=112(spatial dimensions) </a:t>
            </a:r>
          </a:p>
          <a:p>
            <a:endParaRPr lang="en-IN" sz="1800"/>
          </a:p>
          <a:p>
            <a:r>
              <a:rPr lang="en-US" sz="1800" b="1"/>
              <a:t>3. Preprocessing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Resize frames to </a:t>
            </a:r>
            <a:r>
              <a:rPr lang="en-US" sz="1800" b="1"/>
              <a:t>112 × 112</a:t>
            </a:r>
            <a:r>
              <a:rPr lang="en-US" sz="1800"/>
              <a:t> resolution.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Apply pixel normalization and tensor conversion for model input.</a:t>
            </a:r>
          </a:p>
          <a:p>
            <a:endParaRPr lang="en-US" sz="18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A7D149-34E4-7AA9-86E7-778F27E3D47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03201" y="5878532"/>
            <a:ext cx="88391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Mean and standard deviation normalization for training stability.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7196" y="108114"/>
            <a:ext cx="7886700" cy="762744"/>
          </a:xfrm>
        </p:spPr>
        <p:txBody>
          <a:bodyPr>
            <a:normAutofit/>
          </a:bodyPr>
          <a:lstStyle/>
          <a:p>
            <a:r>
              <a:rPr lang="en-IN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  <a:t>….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1885" y="696687"/>
            <a:ext cx="7709249" cy="2075542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4.</a:t>
            </a:r>
            <a:r>
              <a:rPr lang="en-IN" sz="18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800" b="1" err="1">
                <a:latin typeface="Arial" panose="020B0604020202020204" pitchFamily="34" charset="0"/>
                <a:cs typeface="Arial" panose="020B0604020202020204" pitchFamily="34" charset="0"/>
              </a:rPr>
              <a:t>Spatio</a:t>
            </a:r>
            <a:r>
              <a:rPr lang="en-IN" sz="1800" b="1">
                <a:latin typeface="Arial" panose="020B0604020202020204" pitchFamily="34" charset="0"/>
                <a:cs typeface="Arial" panose="020B0604020202020204" pitchFamily="34" charset="0"/>
              </a:rPr>
              <a:t>-Temporal Feature Extraction:</a:t>
            </a:r>
            <a:endParaRPr lang="en-US" sz="1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Feed the 16-frame clip into </a:t>
            </a: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ResNet3D-18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to extract motion and spatial features.</a:t>
            </a:r>
          </a:p>
          <a:p>
            <a:pPr marL="114300" indent="0">
              <a:buNone/>
            </a:pP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5. Classification :</a:t>
            </a:r>
            <a:br>
              <a:rPr lang="en-US" sz="1800"/>
            </a:br>
            <a:r>
              <a:rPr lang="en-US" sz="1800"/>
              <a:t>       </a:t>
            </a:r>
            <a:r>
              <a:rPr lang="en-IN" sz="1800">
                <a:latin typeface="Arial" panose="020B0604020202020204" pitchFamily="34" charset="0"/>
                <a:cs typeface="Arial" panose="020B0604020202020204" pitchFamily="34" charset="0"/>
              </a:rPr>
              <a:t>Final fully connected layer modified for binary output :</a:t>
            </a:r>
          </a:p>
          <a:p>
            <a:pPr marL="114300" indent="0">
              <a:buNone/>
            </a:pPr>
            <a:r>
              <a:rPr lang="en-IN" sz="180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as Violent or nonviolent.</a:t>
            </a:r>
          </a:p>
          <a:p>
            <a:r>
              <a:rPr lang="en-IN" sz="1800">
                <a:latin typeface="Arial" panose="020B0604020202020204" pitchFamily="34" charset="0"/>
                <a:cs typeface="Arial" panose="020B0604020202020204" pitchFamily="34" charset="0"/>
              </a:rPr>
              <a:t>Dropout (0.5) → Linear (512 → 2).</a:t>
            </a:r>
          </a:p>
          <a:p>
            <a:r>
              <a:rPr lang="en-IN" sz="1800">
                <a:latin typeface="Arial" panose="020B0604020202020204" pitchFamily="34" charset="0"/>
                <a:cs typeface="Arial" panose="020B0604020202020204" pitchFamily="34" charset="0"/>
              </a:rPr>
              <a:t>Class probability computed using </a:t>
            </a:r>
            <a:r>
              <a:rPr lang="en-IN" sz="1800" err="1">
                <a:latin typeface="Arial" panose="020B0604020202020204" pitchFamily="34" charset="0"/>
                <a:cs typeface="Arial" panose="020B0604020202020204" pitchFamily="34" charset="0"/>
              </a:rPr>
              <a:t>Softmax</a:t>
            </a:r>
            <a:r>
              <a:rPr lang="en-IN" sz="18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>
              <a:buNone/>
            </a:pPr>
            <a:r>
              <a:rPr lang="en-IN" sz="1800" b="1">
                <a:latin typeface="Arial" panose="020B0604020202020204" pitchFamily="34" charset="0"/>
                <a:cs typeface="Arial" panose="020B0604020202020204" pitchFamily="34" charset="0"/>
              </a:rPr>
              <a:t>6. Confidence-Gated Temporal Voting :</a:t>
            </a:r>
            <a:endParaRPr lang="en-IN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Generate an alert only when prediction confidence ≥ 0.85 for five consecutive evaluations.</a:t>
            </a:r>
          </a:p>
          <a:p>
            <a:pPr marL="114300" indent="0">
              <a:buNone/>
            </a:pP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7. Real-Time Deployment</a:t>
            </a:r>
          </a:p>
          <a:p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Maintain rolling buffer for uninterrupted inference.</a:t>
            </a:r>
          </a:p>
          <a:p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Support both </a:t>
            </a: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CPU and GPU execution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via web-based interface</a:t>
            </a:r>
            <a:r>
              <a:rPr lang="en-US" sz="1800"/>
              <a:t>.</a:t>
            </a:r>
          </a:p>
          <a:p>
            <a:endParaRPr lang="ar-AE" sz="1800"/>
          </a:p>
          <a:p>
            <a:pPr marL="114300" indent="0">
              <a:buNone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101FF-16FA-783C-80C3-9B0CDE26A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192" y="-110493"/>
            <a:ext cx="7886700" cy="1325563"/>
          </a:xfrm>
        </p:spPr>
        <p:txBody>
          <a:bodyPr/>
          <a:lstStyle/>
          <a:p>
            <a:r>
              <a:rPr lang="en-IN" sz="3200"/>
              <a:t>Experimental Results</a:t>
            </a:r>
            <a:r>
              <a:rPr lang="en-IN"/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6A1BBE-F4F9-1955-7FE5-A286D7332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937" y="1691732"/>
            <a:ext cx="5097429" cy="37337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3D97BE-B5F0-B128-46E5-93106B537D8F}"/>
              </a:ext>
            </a:extLst>
          </p:cNvPr>
          <p:cNvSpPr txBox="1"/>
          <p:nvPr/>
        </p:nvSpPr>
        <p:spPr>
          <a:xfrm>
            <a:off x="362941" y="1280867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219"/>
              </a:lnSpc>
              <a:buNone/>
            </a:pPr>
            <a:r>
              <a:rPr lang="en-IN" b="0" i="0">
                <a:effectLst/>
                <a:latin typeface="Courier New" panose="02070309020205020404" pitchFamily="49" charset="0"/>
              </a:rPr>
              <a:t> </a:t>
            </a:r>
            <a:r>
              <a:rPr lang="en-IN" b="1" i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TEST SET EVALUATION RESULTS</a:t>
            </a:r>
            <a:r>
              <a:rPr lang="en-IN" b="0" i="0">
                <a:effectLst/>
                <a:latin typeface="Courier New" panose="02070309020205020404" pitchFamily="49" charset="0"/>
              </a:rPr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F80867-A2AC-8F4F-A555-FABACFDE7E49}"/>
              </a:ext>
            </a:extLst>
          </p:cNvPr>
          <p:cNvSpPr txBox="1"/>
          <p:nvPr/>
        </p:nvSpPr>
        <p:spPr>
          <a:xfrm>
            <a:off x="526192" y="1608274"/>
            <a:ext cx="4572000" cy="2870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ts val="1219"/>
              </a:lnSpc>
              <a:buNone/>
            </a:pPr>
            <a:r>
              <a:rPr lang="en-IN" sz="1600" b="0" i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Accuracy  : 97.95%</a:t>
            </a:r>
          </a:p>
          <a:p>
            <a:pPr latinLnBrk="1">
              <a:lnSpc>
                <a:spcPts val="1219"/>
              </a:lnSpc>
              <a:buNone/>
            </a:pPr>
            <a:endParaRPr lang="en-IN" sz="1600" b="0" i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atinLnBrk="1">
              <a:lnSpc>
                <a:spcPts val="1219"/>
              </a:lnSpc>
              <a:buNone/>
            </a:pPr>
            <a:r>
              <a:rPr lang="en-IN" sz="1600" b="0" i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Precision : 98.00%</a:t>
            </a:r>
          </a:p>
          <a:p>
            <a:pPr latinLnBrk="1">
              <a:lnSpc>
                <a:spcPts val="1219"/>
              </a:lnSpc>
              <a:buNone/>
            </a:pPr>
            <a:endParaRPr lang="en-IN" sz="1600" b="0" i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atinLnBrk="1">
              <a:lnSpc>
                <a:spcPts val="1219"/>
              </a:lnSpc>
              <a:buNone/>
            </a:pPr>
            <a:r>
              <a:rPr lang="en-IN" sz="1600" b="0" i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Recall    : 98.00%</a:t>
            </a:r>
          </a:p>
          <a:p>
            <a:pPr latinLnBrk="1">
              <a:lnSpc>
                <a:spcPts val="1219"/>
              </a:lnSpc>
              <a:buNone/>
            </a:pPr>
            <a:endParaRPr lang="en-IN" sz="1600" b="0" i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atinLnBrk="1">
              <a:lnSpc>
                <a:spcPts val="1219"/>
              </a:lnSpc>
              <a:buNone/>
            </a:pPr>
            <a:r>
              <a:rPr lang="en-IN" sz="1600" b="0" i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F1 Score  : 98.00%</a:t>
            </a:r>
          </a:p>
          <a:p>
            <a:pPr algn="l" latinLnBrk="1">
              <a:lnSpc>
                <a:spcPts val="1219"/>
              </a:lnSpc>
              <a:buNone/>
            </a:pPr>
            <a:endParaRPr lang="en-IN" sz="1600">
              <a:latin typeface="Courier New" panose="02070309020205020404" pitchFamily="49" charset="0"/>
            </a:endParaRPr>
          </a:p>
          <a:p>
            <a:pPr algn="l" latinLnBrk="1">
              <a:lnSpc>
                <a:spcPts val="1219"/>
              </a:lnSpc>
              <a:buNone/>
            </a:pPr>
            <a:endParaRPr lang="en-IN" sz="1600" b="0" i="0">
              <a:effectLst/>
              <a:latin typeface="Courier New" panose="02070309020205020404" pitchFamily="49" charset="0"/>
            </a:endParaRPr>
          </a:p>
          <a:p>
            <a:pPr algn="l" latinLnBrk="1">
              <a:lnSpc>
                <a:spcPts val="1219"/>
              </a:lnSpc>
              <a:buNone/>
            </a:pPr>
            <a:r>
              <a:rPr lang="en-IN" sz="1600" b="1" i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Confusion Matrix:</a:t>
            </a:r>
          </a:p>
          <a:p>
            <a:pPr algn="l" latinLnBrk="1">
              <a:lnSpc>
                <a:spcPts val="1219"/>
              </a:lnSpc>
              <a:buNone/>
            </a:pPr>
            <a:endParaRPr lang="en-IN" sz="1600" b="1" i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latinLnBrk="1">
              <a:lnSpc>
                <a:spcPts val="1219"/>
              </a:lnSpc>
              <a:buNone/>
            </a:pPr>
            <a:r>
              <a:rPr lang="en-IN" sz="1600" b="0" i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TP  Violent   → Violent    : 147</a:t>
            </a:r>
          </a:p>
          <a:p>
            <a:pPr algn="l" latinLnBrk="1">
              <a:lnSpc>
                <a:spcPts val="1219"/>
              </a:lnSpc>
              <a:buNone/>
            </a:pPr>
            <a:endParaRPr lang="en-IN" sz="1600" b="0" i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latinLnBrk="1">
              <a:lnSpc>
                <a:spcPts val="1219"/>
              </a:lnSpc>
              <a:buNone/>
            </a:pPr>
            <a:r>
              <a:rPr lang="en-IN" sz="1600" b="0" i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TN  </a:t>
            </a:r>
            <a:r>
              <a:rPr lang="en-IN" sz="1600" b="0" i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NonViolent</a:t>
            </a:r>
            <a:r>
              <a:rPr lang="en-IN" sz="1600" b="0" i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 → </a:t>
            </a:r>
            <a:r>
              <a:rPr lang="en-IN" sz="1600" b="0" i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NonViolent</a:t>
            </a:r>
            <a:r>
              <a:rPr lang="en-IN" sz="1600" b="0" i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  : 140</a:t>
            </a:r>
          </a:p>
          <a:p>
            <a:pPr algn="l" latinLnBrk="1">
              <a:lnSpc>
                <a:spcPts val="1219"/>
              </a:lnSpc>
              <a:buNone/>
            </a:pPr>
            <a:endParaRPr lang="en-IN" sz="1600" b="0" i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latinLnBrk="1">
              <a:lnSpc>
                <a:spcPts val="1219"/>
              </a:lnSpc>
              <a:buNone/>
            </a:pPr>
            <a:r>
              <a:rPr lang="en-IN" sz="1600" b="0" i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FP  </a:t>
            </a:r>
            <a:r>
              <a:rPr lang="en-IN" sz="1600" b="0" i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NonViolent</a:t>
            </a:r>
            <a:r>
              <a:rPr lang="en-IN" sz="1600" b="0" i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 → Violent    : 3</a:t>
            </a:r>
          </a:p>
          <a:p>
            <a:pPr algn="l" latinLnBrk="1">
              <a:lnSpc>
                <a:spcPts val="1219"/>
              </a:lnSpc>
              <a:buNone/>
            </a:pPr>
            <a:endParaRPr lang="en-IN" sz="1600" b="0" i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latinLnBrk="1">
              <a:lnSpc>
                <a:spcPts val="1219"/>
              </a:lnSpc>
              <a:buNone/>
            </a:pPr>
            <a:r>
              <a:rPr lang="en-IN" sz="1600" b="0" i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FN  Violent   → </a:t>
            </a:r>
            <a:r>
              <a:rPr lang="en-IN" sz="1600" b="0" i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NonViolent</a:t>
            </a:r>
            <a:r>
              <a:rPr lang="en-IN" sz="1600" b="0" i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  : 3</a:t>
            </a:r>
            <a:endParaRPr lang="en-IN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4C7367-02CF-5C53-394E-9E98A684706D}"/>
              </a:ext>
            </a:extLst>
          </p:cNvPr>
          <p:cNvSpPr txBox="1"/>
          <p:nvPr/>
        </p:nvSpPr>
        <p:spPr>
          <a:xfrm>
            <a:off x="526192" y="4669192"/>
            <a:ext cx="70294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/>
              <a:t>Confusion Matrix Visualization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600" b="0" i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Displays true vs predicted labels.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600" b="0" i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Helps </a:t>
            </a:r>
            <a:r>
              <a:rPr lang="en-IN" sz="1600" b="0" i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analyze</a:t>
            </a:r>
            <a:r>
              <a:rPr lang="en-IN" sz="1600" b="0" i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600" b="0" i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False positives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600" b="0" i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False negatives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600" b="0" i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Class-wise performance</a:t>
            </a:r>
          </a:p>
        </p:txBody>
      </p:sp>
    </p:spTree>
    <p:extLst>
      <p:ext uri="{BB962C8B-B14F-4D97-AF65-F5344CB8AC3E}">
        <p14:creationId xmlns:p14="http://schemas.microsoft.com/office/powerpoint/2010/main" val="1964545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42E8A-A539-51C8-4E5D-393857CD1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Advantages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5DF9E1-ED2F-A1EB-F8D4-7EF6190C85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8515350" cy="4351338"/>
          </a:xfrm>
        </p:spPr>
        <p:txBody>
          <a:bodyPr>
            <a:normAutofit/>
          </a:bodyPr>
          <a:lstStyle/>
          <a:p>
            <a:r>
              <a:rPr lang="en-US" sz="2000" b="1"/>
              <a:t>High Accuracy with Minimal Data:</a:t>
            </a:r>
            <a:r>
              <a:rPr lang="en-US" sz="2000"/>
              <a:t> Achieves 97.95% accuracy using transfer learning from Kinetics-400 pretrained weights, trained on only ~293 balanced samples</a:t>
            </a:r>
          </a:p>
          <a:p>
            <a:r>
              <a:rPr lang="en-US" sz="2000" b="1"/>
              <a:t>Reduced False Alarms: </a:t>
            </a:r>
            <a:r>
              <a:rPr lang="en-US" sz="2000"/>
              <a:t>Uses a </a:t>
            </a:r>
            <a:r>
              <a:rPr lang="en-US" sz="2000" b="1"/>
              <a:t>confidence-based temporal voting system</a:t>
            </a:r>
            <a:r>
              <a:rPr lang="en-US" sz="2000"/>
              <a:t> (5 frames, 85% threshold) to filter out momentary errors, making predictions more stable and reliable than single-frame methods.</a:t>
            </a:r>
          </a:p>
          <a:p>
            <a:r>
              <a:rPr lang="en-US" sz="2000" b="1"/>
              <a:t>Easy-to-Use Web Interface: </a:t>
            </a:r>
            <a:r>
              <a:rPr lang="en-US" sz="2000"/>
              <a:t>Built with a </a:t>
            </a:r>
            <a:r>
              <a:rPr lang="en-US" sz="2000" b="1"/>
              <a:t>browser-based interface</a:t>
            </a:r>
            <a:r>
              <a:rPr lang="en-US" sz="2000"/>
              <a:t>, enabling users to run detection without any coding or technical setup.</a:t>
            </a:r>
          </a:p>
          <a:p>
            <a:r>
              <a:rPr lang="en-US" sz="2000" b="1"/>
              <a:t>Lightweight and Portable:</a:t>
            </a:r>
          </a:p>
          <a:p>
            <a:r>
              <a:rPr lang="en-US" sz="2000"/>
              <a:t>Requires only a </a:t>
            </a:r>
            <a:r>
              <a:rPr lang="en-US" sz="2000" b="1"/>
              <a:t>single model file (.pth)</a:t>
            </a:r>
            <a:r>
              <a:rPr lang="en-US" sz="2000"/>
              <a:t> and standard libraries. Runs consistently across Windows, Linux, and macOS with no hardware dependency.</a:t>
            </a:r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1367004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70621" y="326040"/>
            <a:ext cx="541215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4016C5-95FB-A49F-889A-4F2904311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610" y="1443841"/>
            <a:ext cx="848501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A real-time human violence detection framework based on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ResNet3D-18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developed for 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spatio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-temporal video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The model effectively captures motion and appearance features from 16-frame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    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video clips.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The proposed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confidence-gated temporal voting mechanism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significantly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reduces false positives and improves detection stability.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The system achieved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97.95% accuracy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strong precision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    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recall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Real-time deployment with CPU and GPU support demonstrates practical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   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applicability in surveillance environments.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C413E-CD44-398A-635E-8FBBC2EE5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Future Scope: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3E1CB8-B122-E4F0-4F63-07B4DC1E6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49" y="1825625"/>
            <a:ext cx="8369877" cy="4351338"/>
          </a:xfrm>
        </p:spPr>
        <p:txBody>
          <a:bodyPr>
            <a:normAutofit/>
          </a:bodyPr>
          <a:lstStyle/>
          <a:p>
            <a:r>
              <a:rPr lang="en-US" sz="2000" b="1"/>
              <a:t>Multimodal Fusion — Audio + Video:</a:t>
            </a:r>
            <a:r>
              <a:rPr lang="en-US" sz="2000"/>
              <a:t> Integrate audio analysis (screams, impact sounds, breaking glass) alongside video using a gated fusion module</a:t>
            </a:r>
          </a:p>
          <a:p>
            <a:r>
              <a:rPr lang="en-US" sz="2000" b="1"/>
              <a:t>Multi-Camera Centralized Dashboard:</a:t>
            </a:r>
            <a:r>
              <a:rPr lang="en-US" sz="2000"/>
              <a:t> Build a unified monitoring dashboard aggregating real-time alerts from multiple camera feeds simultaneously</a:t>
            </a:r>
          </a:p>
          <a:p>
            <a:r>
              <a:rPr lang="en-US" sz="2000" b="1"/>
              <a:t>Auto Sending Alerts:</a:t>
            </a:r>
            <a:r>
              <a:rPr lang="en-US" sz="2000"/>
              <a:t> When violence is detected, the system should automatically send an SMS or email to security staff or police </a:t>
            </a:r>
          </a:p>
          <a:p>
            <a:r>
              <a:rPr lang="en-US" sz="2000" b="1"/>
              <a:t>Making It Smarter Over Time:</a:t>
            </a:r>
            <a:r>
              <a:rPr lang="en-US" sz="2000"/>
              <a:t> The model can be retrained regularly with new video data from the actual deployment location — making it more accurate </a:t>
            </a:r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6011318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>
            <a:spLocks noGrp="1"/>
          </p:cNvSpPr>
          <p:nvPr>
            <p:ph type="title"/>
          </p:nvPr>
        </p:nvSpPr>
        <p:spPr>
          <a:xfrm>
            <a:off x="2055055" y="405350"/>
            <a:ext cx="4763434" cy="929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 panose="02020603050405020304"/>
              <a:buNone/>
            </a:pPr>
            <a:r>
              <a:rPr lang="en-GB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References</a:t>
            </a:r>
            <a:r>
              <a:rPr lang="en-GB">
                <a:solidFill>
                  <a:schemeClr val="accent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>
              <a:solidFill>
                <a:schemeClr val="accent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8" name="Google Shape;158;p23"/>
          <p:cNvSpPr txBox="1">
            <a:spLocks noGrp="1"/>
          </p:cNvSpPr>
          <p:nvPr>
            <p:ph type="body" idx="1"/>
          </p:nvPr>
        </p:nvSpPr>
        <p:spPr>
          <a:xfrm>
            <a:off x="628649" y="1253400"/>
            <a:ext cx="8022981" cy="5062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57200" algn="just"/>
            <a:r>
              <a:rPr lang="en-IN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“Fabrication of Drone.” </a:t>
            </a:r>
            <a:r>
              <a:rPr lang="en-IN" sz="1200" i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SlideShare</a:t>
            </a:r>
            <a:r>
              <a:rPr lang="en-IN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30 Apr. 2019, </a:t>
            </a:r>
            <a:r>
              <a:rPr lang="en-IN" sz="1200" u="sng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3"/>
              </a:rPr>
              <a:t>www.slideshare.net/Rajnishkumar468/fabrication-of-drone. Accessed 31 May 2024</a:t>
            </a:r>
            <a:r>
              <a:rPr lang="en-IN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457200" indent="-457200" algn="just"/>
            <a:r>
              <a:rPr lang="en-IN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457200" indent="-457200" algn="just"/>
            <a:r>
              <a:rPr lang="en-IN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Kotecha, Ketan, et al. “Background Invariant Faster Motion </a:t>
            </a:r>
            <a:r>
              <a:rPr lang="en-IN" sz="12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Modeling</a:t>
            </a:r>
            <a:r>
              <a:rPr lang="en-IN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for Drone Action Recognition.” </a:t>
            </a:r>
            <a:r>
              <a:rPr lang="en-IN" sz="1200" i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Drones</a:t>
            </a:r>
            <a:r>
              <a:rPr lang="en-IN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vol. 5, no. 3, 31 Aug. 2021, p. 87, </a:t>
            </a:r>
            <a:r>
              <a:rPr lang="en-IN" sz="1200" u="sng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4"/>
              </a:rPr>
              <a:t>https://doi.org/10.3390/drones5030087</a:t>
            </a:r>
            <a:r>
              <a:rPr lang="en-IN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457200" indent="-457200" algn="just"/>
            <a:r>
              <a:rPr lang="en-IN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457200" indent="-457200" algn="just"/>
            <a:r>
              <a:rPr lang="en-IN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Perera, </a:t>
            </a:r>
            <a:r>
              <a:rPr lang="en-IN" sz="12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Asanka</a:t>
            </a:r>
            <a:r>
              <a:rPr lang="en-IN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G., et al. “Drone-Action: An Outdoor Recorded Drone Video Dataset for Action Recognition.” </a:t>
            </a:r>
            <a:r>
              <a:rPr lang="en-IN" sz="1200" i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Drones</a:t>
            </a:r>
            <a:r>
              <a:rPr lang="en-IN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vol. 3, no. 4, 28 Nov. 2019, p. 82, </a:t>
            </a:r>
            <a:r>
              <a:rPr lang="en-IN" sz="1200" u="sng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5"/>
              </a:rPr>
              <a:t>https://doi.org/10.3390/drones3040082</a:t>
            </a:r>
            <a:r>
              <a:rPr lang="en-IN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457200" indent="-457200" algn="just"/>
            <a:r>
              <a:rPr lang="en-IN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457200" indent="-457200" algn="just"/>
            <a:r>
              <a:rPr lang="en-IN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Ramachandran, </a:t>
            </a:r>
            <a:r>
              <a:rPr lang="en-IN" sz="12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Anitha</a:t>
            </a:r>
            <a:r>
              <a:rPr lang="en-IN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and Arun Kumar </a:t>
            </a:r>
            <a:r>
              <a:rPr lang="en-IN" sz="12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Sangaiah</a:t>
            </a:r>
            <a:r>
              <a:rPr lang="en-IN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“A Review on Object Detection in Unmanned Aerial Vehicle Surveillance.” </a:t>
            </a:r>
            <a:r>
              <a:rPr lang="en-IN" sz="1200" i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International Journal of Cognitive Computing in Engineering</a:t>
            </a:r>
            <a:r>
              <a:rPr lang="en-IN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vol. 2, 1 June 2021, pp. 215–228, www.sciencedirect.com/science/article/pii/S2666307421000267#bib0011, </a:t>
            </a:r>
            <a:r>
              <a:rPr lang="en-IN" sz="1200" u="sng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6"/>
              </a:rPr>
              <a:t>https://doi.org/10.1016/j.ijcce.2021.11.005</a:t>
            </a:r>
            <a:r>
              <a:rPr lang="en-IN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457200" indent="-457200" algn="just"/>
            <a:r>
              <a:rPr lang="en-IN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457200" indent="-457200" algn="just"/>
            <a:r>
              <a:rPr lang="en-IN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Srivastava, </a:t>
            </a:r>
            <a:r>
              <a:rPr lang="en-IN" sz="12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Anugrah</a:t>
            </a:r>
            <a:r>
              <a:rPr lang="en-IN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et al. “Recognizing Human Violent Action Using Drone Surveillance within Real-Time Proximity.” </a:t>
            </a:r>
            <a:r>
              <a:rPr lang="en-IN" sz="1200" i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Journal of Real-Time Image Processing</a:t>
            </a:r>
            <a:r>
              <a:rPr lang="en-IN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vol. 18, no. 5, 12 Sept. 2021, pp. 1851–1863, </a:t>
            </a:r>
            <a:r>
              <a:rPr lang="en-IN" sz="1200" u="sng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7"/>
              </a:rPr>
              <a:t>https://doi.org/10.1007/s11554-021-01171-2</a:t>
            </a:r>
            <a:r>
              <a:rPr lang="en-IN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pPr marL="457200" indent="-457200" algn="just"/>
            <a:r>
              <a:rPr lang="en-IN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Accessed 1 Feb. 2022.</a:t>
            </a:r>
          </a:p>
          <a:p>
            <a:pPr marL="457200" indent="-457200" algn="just"/>
            <a:r>
              <a:rPr lang="en-IN" sz="1200" u="sng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8"/>
              </a:rPr>
              <a:t>https://ieeexplore.ieee.org/abstract/document/10459026</a:t>
            </a:r>
            <a:endParaRPr lang="en-IN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-457200" algn="just"/>
            <a:r>
              <a:rPr lang="en-IN" sz="1200" u="sng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9"/>
              </a:rPr>
              <a:t>https://ieeexplore.ieee.org/abstract/document/9006834</a:t>
            </a:r>
            <a:endParaRPr lang="en-IN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-457200" algn="just">
              <a:lnSpc>
                <a:spcPct val="120000"/>
              </a:lnSpc>
            </a:pPr>
            <a:r>
              <a:rPr lang="en-IN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Singh, Pawan Kumar, et al. “Progress of Human Action Recognition Research in the Last Ten Years: A Comprehensive Survey.” </a:t>
            </a:r>
            <a:r>
              <a:rPr lang="en-IN" sz="1200" i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Archives of Computational Methods in Engineering</a:t>
            </a:r>
            <a:r>
              <a:rPr lang="en-IN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30 Nov. 2021, </a:t>
            </a:r>
            <a:r>
              <a:rPr lang="en-IN" sz="1200" u="sng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0"/>
              </a:rPr>
              <a:t>https://doi.org/10.1007/s11831-021-09681-9</a:t>
            </a:r>
            <a:r>
              <a:rPr lang="en-IN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sz="12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effectLst>
            <a:glow rad="127000">
              <a:schemeClr val="bg2">
                <a:alpha val="0"/>
              </a:schemeClr>
            </a:glow>
            <a:outerShdw blurRad="50800" dist="50800" dir="5400000" sx="200000" sy="200000" algn="ctr" rotWithShape="0">
              <a:srgbClr val="000000">
                <a:alpha val="0"/>
              </a:srgbClr>
            </a:outerShdw>
            <a:reflection stA="0" endPos="65000" dist="50800" dir="5400000" sy="-100000" algn="bl" rotWithShape="0"/>
          </a:effectLst>
        </p:spPr>
      </p:pic>
      <p:sp>
        <p:nvSpPr>
          <p:cNvPr id="4" name="Google Shape;163;p24"/>
          <p:cNvSpPr txBox="1"/>
          <p:nvPr/>
        </p:nvSpPr>
        <p:spPr>
          <a:xfrm>
            <a:off x="599246" y="724832"/>
            <a:ext cx="7772400" cy="11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Thank You</a:t>
            </a:r>
            <a:endParaRPr sz="22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PCL-Review-1_PresentationFormat[1]</Template>
  <TotalTime>325</TotalTime>
  <Words>2276</Words>
  <Application>Microsoft Office PowerPoint</Application>
  <PresentationFormat>On-screen Show (4:3)</PresentationFormat>
  <Paragraphs>275</Paragraphs>
  <Slides>20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Times New Roman</vt:lpstr>
      <vt:lpstr>Courier New</vt:lpstr>
      <vt:lpstr>Office Theme</vt:lpstr>
      <vt:lpstr>PowerPoint Presentation</vt:lpstr>
      <vt:lpstr>Contents</vt:lpstr>
      <vt:lpstr>Abstract</vt:lpstr>
      <vt:lpstr>Introduction</vt:lpstr>
      <vt:lpstr>PowerPoint Presentation</vt:lpstr>
      <vt:lpstr>Problem Statement:</vt:lpstr>
      <vt:lpstr>Aim and Objectives</vt:lpstr>
      <vt:lpstr>ResNet3D-18 Architecture:</vt:lpstr>
      <vt:lpstr>Existing Models:</vt:lpstr>
      <vt:lpstr>Comparative Analysis with Existing Models:</vt:lpstr>
      <vt:lpstr>Literature Survey </vt:lpstr>
      <vt:lpstr>Literature Survey </vt:lpstr>
      <vt:lpstr>PowerPoint Presentation</vt:lpstr>
      <vt:lpstr>Cont….</vt:lpstr>
      <vt:lpstr>Experimental Results:</vt:lpstr>
      <vt:lpstr>Advantages</vt:lpstr>
      <vt:lpstr>PowerPoint Presentation</vt:lpstr>
      <vt:lpstr>Future Scope:</vt:lpstr>
      <vt:lpstr>References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 1</dc:creator>
  <cp:lastModifiedBy>tanisha vernekar</cp:lastModifiedBy>
  <cp:revision>11</cp:revision>
  <dcterms:created xsi:type="dcterms:W3CDTF">2024-06-04T16:47:00Z</dcterms:created>
  <dcterms:modified xsi:type="dcterms:W3CDTF">2026-04-08T13:10:19Z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8296AD5423924FC693708454782A1F3A_12</vt:lpwstr>
  </property>
  <property fmtid="{D5CDD505-2E9C-101B-9397-08002B2CF9AE}" pid="3" name="KSOProductBuildVer">
    <vt:lpwstr>1033-12.2.0.18283</vt:lpwstr>
  </property>
</Properties>
</file>